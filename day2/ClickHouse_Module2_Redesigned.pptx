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4BD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71600"/>
            <a:ext cx="2382012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0"/>
            <a:ext cx="2382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MODULE 2 · CLICKHOUSE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34747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of collecting, importing, and transferring data from multiple sources into a storage or processing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91440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960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21208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types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224028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22860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212080" y="2770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categories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3611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12080" y="4096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throughput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DEFINITION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Data Ingestion?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"Data ingestion is the process of collecting, importing, and transferring data from multiple sources into a storage or processing system."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944368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5021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from diverse sources — databases, files, sensors, APIs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3657600"/>
            <a:ext cx="182880" cy="164592"/>
          </a:xfrm>
          <a:prstGeom prst="rect">
            <a:avLst/>
          </a:prstGeom>
          <a:solidFill>
            <a:srgbClr val="00A4BD"/>
          </a:solidFill>
          <a:ln/>
        </p:spPr>
      </p:sp>
      <p:sp>
        <p:nvSpPr>
          <p:cNvPr id="12" name="Shape 10"/>
          <p:cNvSpPr/>
          <p:nvPr/>
        </p:nvSpPr>
        <p:spPr>
          <a:xfrm>
            <a:off x="3355848" y="2880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2944368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55848" y="35021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38862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and convert data into the target system's format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71616" y="3657600"/>
            <a:ext cx="182880" cy="164592"/>
          </a:xfrm>
          <a:prstGeom prst="rect">
            <a:avLst/>
          </a:prstGeom>
          <a:solidFill>
            <a:srgbClr val="00A4BD"/>
          </a:solidFill>
          <a:ln/>
        </p:spPr>
      </p:sp>
      <p:sp>
        <p:nvSpPr>
          <p:cNvPr id="17" name="Shape 15"/>
          <p:cNvSpPr/>
          <p:nvPr/>
        </p:nvSpPr>
        <p:spPr>
          <a:xfrm>
            <a:off x="6254496" y="2880360"/>
            <a:ext cx="271576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2944368"/>
            <a:ext cx="2715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3502152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4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91656" y="3886200"/>
            <a:ext cx="2441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a storage or processing system ready for analysis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33856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Data Ingestion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approaches — each suited to different use cases and latency requirements: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007A8C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240280"/>
            <a:ext cx="4114800" cy="228600"/>
          </a:xfrm>
          <a:prstGeom prst="rect">
            <a:avLst/>
          </a:prstGeom>
          <a:solidFill>
            <a:srgbClr val="007A8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📦  Batch Ingestion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2578608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· Periodic · High Volume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collected and processed at scheduled intervals. Ideal when real-time speed is not required and data can be accumulated before processing.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783080"/>
            <a:ext cx="4114800" cy="3017520"/>
          </a:xfrm>
          <a:prstGeom prst="roundRect">
            <a:avLst>
              <a:gd name="adj" fmla="val 3636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783080"/>
            <a:ext cx="4114800" cy="685800"/>
          </a:xfrm>
          <a:prstGeom prst="roundRect">
            <a:avLst>
              <a:gd name="adj" fmla="val 16000"/>
            </a:avLst>
          </a:prstGeom>
          <a:solidFill>
            <a:srgbClr val="1B5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240280"/>
            <a:ext cx="4114800" cy="228600"/>
          </a:xfrm>
          <a:prstGeom prst="rect">
            <a:avLst/>
          </a:prstGeom>
          <a:solidFill>
            <a:srgbClr val="1B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28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Real-Time / Streaming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5074920" y="2578608"/>
            <a:ext cx="3474720" cy="292608"/>
          </a:xfrm>
          <a:prstGeom prst="roundRect">
            <a:avLst>
              <a:gd name="adj" fmla="val 15625"/>
            </a:avLst>
          </a:prstGeom>
          <a:solidFill>
            <a:srgbClr val="1A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5786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· Low Latency · Live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9718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ingested continuously as it is generated. Enables instant insights and real-time decision making for time-sensitive applications.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05940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059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BATCH INGESTION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Ingestion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collected and processed at scheduled intervals.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Examples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295144"/>
            <a:ext cx="219456" cy="219456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40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980944"/>
            <a:ext cx="219456" cy="219456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666744"/>
            <a:ext cx="219456" cy="219456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financial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6916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920240"/>
            <a:ext cx="265176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20440" y="2340864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implement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3026664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0440" y="3712464"/>
            <a:ext cx="219456" cy="21945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3657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 volumes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1691640"/>
            <a:ext cx="2651760" cy="3063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6916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920240"/>
            <a:ext cx="265176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2340864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286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insights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3026664"/>
            <a:ext cx="219456" cy="21945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29718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suitable for live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89988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89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STREAMING INGESTION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/ Streaming Ingestion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ingested continuously as it is generated.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11224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71907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Stock market updates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71907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11224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71907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IoT sensors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1907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11224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71907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Fraud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1719072"/>
            <a:ext cx="1965960" cy="621792"/>
          </a:xfrm>
          <a:prstGeom prst="roundRect">
            <a:avLst>
              <a:gd name="adj" fmla="val 11765"/>
            </a:avLst>
          </a:prstGeom>
          <a:solidFill>
            <a:srgbClr val="112240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171907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Social media feeds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1460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743200"/>
            <a:ext cx="411480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542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Advantages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14553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insights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362102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409651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896112" y="4041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live monitoring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" y="45720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96112" y="45171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 making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251460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112240"/>
          </a:solidFill>
          <a:ln/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514600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542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3145536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285232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architecture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983480" y="3621024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5285232" y="35661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infrastructure cost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83480" y="4096512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40416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stream processing expertise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17904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Data 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00A4BD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874520"/>
            <a:ext cx="2697480" cy="274320"/>
          </a:xfrm>
          <a:prstGeom prst="rect">
            <a:avLst/>
          </a:prstGeom>
          <a:solidFill>
            <a:srgbClr val="00A4B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08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Sources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schema, easy to query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01168" cy="201168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01168" cy="201168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558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01168" cy="201168"/>
          </a:xfrm>
          <a:prstGeom prst="ellipse">
            <a:avLst/>
          </a:prstGeom>
          <a:solidFill>
            <a:srgbClr val="00A4B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50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systems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46120" y="137160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37160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2A6496"/>
          </a:solidFill>
          <a:ln/>
        </p:spPr>
      </p:sp>
      <p:sp>
        <p:nvSpPr>
          <p:cNvPr id="19" name="Shape 17"/>
          <p:cNvSpPr/>
          <p:nvPr/>
        </p:nvSpPr>
        <p:spPr>
          <a:xfrm>
            <a:off x="3246120" y="1874520"/>
            <a:ext cx="2697480" cy="274320"/>
          </a:xfrm>
          <a:prstGeom prst="rect">
            <a:avLst/>
          </a:prstGeom>
          <a:solidFill>
            <a:srgbClr val="2A6496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408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40480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Semi-Structured Sources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38328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schema, self-describing format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2834640"/>
            <a:ext cx="201168" cy="201168"/>
          </a:xfrm>
          <a:prstGeom prst="ellipse">
            <a:avLst/>
          </a:prstGeom>
          <a:solidFill>
            <a:srgbClr val="2A6496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29000" y="3429000"/>
            <a:ext cx="201168" cy="201168"/>
          </a:xfrm>
          <a:prstGeom prst="ellipse">
            <a:avLst/>
          </a:prstGeom>
          <a:solidFill>
            <a:srgbClr val="2A6496"/>
          </a:solidFill>
          <a:ln/>
        </p:spPr>
      </p:sp>
      <p:sp>
        <p:nvSpPr>
          <p:cNvPr id="26" name="Text 24"/>
          <p:cNvSpPr/>
          <p:nvPr/>
        </p:nvSpPr>
        <p:spPr>
          <a:xfrm>
            <a:off x="3749040" y="33558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29000" y="4023360"/>
            <a:ext cx="201168" cy="201168"/>
          </a:xfrm>
          <a:prstGeom prst="ellipse">
            <a:avLst/>
          </a:prstGeom>
          <a:solidFill>
            <a:srgbClr val="2A6496"/>
          </a:solidFill>
          <a:ln/>
        </p:spPr>
      </p:sp>
      <p:sp>
        <p:nvSpPr>
          <p:cNvPr id="28" name="Text 26"/>
          <p:cNvSpPr/>
          <p:nvPr/>
        </p:nvSpPr>
        <p:spPr>
          <a:xfrm>
            <a:off x="3749040" y="3950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files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26480" y="137160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371600"/>
            <a:ext cx="2697480" cy="777240"/>
          </a:xfrm>
          <a:prstGeom prst="roundRect">
            <a:avLst>
              <a:gd name="adj" fmla="val 14118"/>
            </a:avLst>
          </a:prstGeom>
          <a:solidFill>
            <a:srgbClr val="5B3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6126480" y="1874520"/>
            <a:ext cx="2697480" cy="274320"/>
          </a:xfrm>
          <a:prstGeom prst="rect">
            <a:avLst/>
          </a:prstGeom>
          <a:solidFill>
            <a:srgbClr val="5B3C8C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1408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1444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Sources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224028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3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predefined schema, requires preprocessing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2834640"/>
            <a:ext cx="201168" cy="201168"/>
          </a:xfrm>
          <a:prstGeom prst="ellipse">
            <a:avLst/>
          </a:prstGeom>
          <a:solidFill>
            <a:srgbClr val="5B3C8C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2761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Videos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09360" y="3429000"/>
            <a:ext cx="201168" cy="201168"/>
          </a:xfrm>
          <a:prstGeom prst="ellipse">
            <a:avLst/>
          </a:prstGeom>
          <a:solidFill>
            <a:srgbClr val="5B3C8C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35584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09360" y="4023360"/>
            <a:ext cx="201168" cy="201168"/>
          </a:xfrm>
          <a:prstGeom prst="ellipse">
            <a:avLst/>
          </a:prstGeom>
          <a:solidFill>
            <a:srgbClr val="5B3C8C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395020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17904" cy="256032"/>
          </a:xfrm>
          <a:prstGeom prst="roundRect">
            <a:avLst>
              <a:gd name="adj" fmla="val 14286"/>
            </a:avLst>
          </a:prstGeom>
          <a:solidFill>
            <a:srgbClr val="00A4B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sources through the operational plane via ingestion to the analytical plane — producing AI models, reports, dashboards, and APIs.</a:t>
            </a:r>
            <a:endParaRPr lang="en-US" sz="1250" dirty="0"/>
          </a:p>
        </p:txBody>
      </p:sp>
      <p:pic>
        <p:nvPicPr>
          <p:cNvPr id="6" name="Image 0" descr="/home/claude/unpacked2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82296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ClickHouse Module 2 – Data Ingestion</dc:title>
  <dc:subject>PptxGenJS Presentation</dc:subject>
  <dc:creator>PptxGenJS</dc:creator>
  <cp:lastModifiedBy>PptxGenJS</cp:lastModifiedBy>
  <cp:revision>1</cp:revision>
  <dcterms:created xsi:type="dcterms:W3CDTF">2026-06-11T06:37:02Z</dcterms:created>
  <dcterms:modified xsi:type="dcterms:W3CDTF">2026-06-11T06:37:02Z</dcterms:modified>
</cp:coreProperties>
</file>